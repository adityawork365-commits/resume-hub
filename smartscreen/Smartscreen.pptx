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nton" charset="1" panose="00000500000000000000"/>
      <p:regular r:id="rId16"/>
    </p:embeddedFont>
    <p:embeddedFont>
      <p:font typeface="Poppins" charset="1" panose="00000500000000000000"/>
      <p:regular r:id="rId17"/>
    </p:embeddedFont>
    <p:embeddedFont>
      <p:font typeface="Poppins Medium" charset="1" panose="000006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19211" y="239233"/>
            <a:ext cx="9808535" cy="9808535"/>
          </a:xfrm>
          <a:custGeom>
            <a:avLst/>
            <a:gdLst/>
            <a:ahLst/>
            <a:cxnLst/>
            <a:rect r="r" b="b" t="t" l="l"/>
            <a:pathLst>
              <a:path h="9808535" w="9808535">
                <a:moveTo>
                  <a:pt x="0" y="0"/>
                </a:moveTo>
                <a:lnTo>
                  <a:pt x="9808535" y="0"/>
                </a:lnTo>
                <a:lnTo>
                  <a:pt x="9808535" y="9808534"/>
                </a:lnTo>
                <a:lnTo>
                  <a:pt x="0" y="98085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092198" y="2572752"/>
            <a:ext cx="11356719" cy="5141496"/>
          </a:xfrm>
          <a:custGeom>
            <a:avLst/>
            <a:gdLst/>
            <a:ahLst/>
            <a:cxnLst/>
            <a:rect r="r" b="b" t="t" l="l"/>
            <a:pathLst>
              <a:path h="5141496" w="11356719">
                <a:moveTo>
                  <a:pt x="0" y="0"/>
                </a:moveTo>
                <a:lnTo>
                  <a:pt x="11356720" y="0"/>
                </a:lnTo>
                <a:lnTo>
                  <a:pt x="11356720" y="5141496"/>
                </a:lnTo>
                <a:lnTo>
                  <a:pt x="0" y="51414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9023478" y="2572752"/>
            <a:ext cx="11356719" cy="5141496"/>
          </a:xfrm>
          <a:custGeom>
            <a:avLst/>
            <a:gdLst/>
            <a:ahLst/>
            <a:cxnLst/>
            <a:rect r="r" b="b" t="t" l="l"/>
            <a:pathLst>
              <a:path h="5141496" w="11356719">
                <a:moveTo>
                  <a:pt x="11356720" y="0"/>
                </a:moveTo>
                <a:lnTo>
                  <a:pt x="0" y="0"/>
                </a:lnTo>
                <a:lnTo>
                  <a:pt x="0" y="5141496"/>
                </a:lnTo>
                <a:lnTo>
                  <a:pt x="11356720" y="5141496"/>
                </a:lnTo>
                <a:lnTo>
                  <a:pt x="11356720" y="0"/>
                </a:lnTo>
                <a:close/>
              </a:path>
            </a:pathLst>
          </a:custGeom>
          <a:blipFill>
            <a:blip r:embed="rId5">
              <a:alphaModFix amt="7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84372" y="3726507"/>
            <a:ext cx="14319257" cy="254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51"/>
              </a:lnSpc>
            </a:pPr>
            <a:r>
              <a:rPr lang="en-US" sz="1489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SMARTSCREEN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84372" y="6160443"/>
            <a:ext cx="14319257" cy="60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200" spc="7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 AI POWERED RESUME SCREENING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755" y="271714"/>
            <a:ext cx="9808535" cy="9808535"/>
          </a:xfrm>
          <a:custGeom>
            <a:avLst/>
            <a:gdLst/>
            <a:ahLst/>
            <a:cxnLst/>
            <a:rect r="r" b="b" t="t" l="l"/>
            <a:pathLst>
              <a:path h="9808535" w="9808535">
                <a:moveTo>
                  <a:pt x="0" y="0"/>
                </a:moveTo>
                <a:lnTo>
                  <a:pt x="9808535" y="0"/>
                </a:lnTo>
                <a:lnTo>
                  <a:pt x="9808535" y="9808535"/>
                </a:lnTo>
                <a:lnTo>
                  <a:pt x="0" y="9808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19582" y="1908550"/>
            <a:ext cx="6453726" cy="6469900"/>
          </a:xfrm>
          <a:custGeom>
            <a:avLst/>
            <a:gdLst/>
            <a:ahLst/>
            <a:cxnLst/>
            <a:rect r="r" b="b" t="t" l="l"/>
            <a:pathLst>
              <a:path h="6469900" w="6453726">
                <a:moveTo>
                  <a:pt x="0" y="0"/>
                </a:moveTo>
                <a:lnTo>
                  <a:pt x="6453725" y="0"/>
                </a:lnTo>
                <a:lnTo>
                  <a:pt x="6453725" y="6469900"/>
                </a:lnTo>
                <a:lnTo>
                  <a:pt x="0" y="6469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365290" y="5634273"/>
            <a:ext cx="4963876" cy="274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SmartScreen AI is an intelligent resume screening system that uses advanced AI to understand the meaning and context of resumes and job descriptions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65290" y="2334533"/>
            <a:ext cx="7722831" cy="280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WHAT IS</a:t>
            </a:r>
          </a:p>
          <a:p>
            <a:pPr algn="just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SMARTSCREEN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59069" y="1635410"/>
            <a:ext cx="9808535" cy="9808535"/>
          </a:xfrm>
          <a:custGeom>
            <a:avLst/>
            <a:gdLst/>
            <a:ahLst/>
            <a:cxnLst/>
            <a:rect r="r" b="b" t="t" l="l"/>
            <a:pathLst>
              <a:path h="9808535" w="9808535">
                <a:moveTo>
                  <a:pt x="0" y="0"/>
                </a:moveTo>
                <a:lnTo>
                  <a:pt x="9808535" y="0"/>
                </a:lnTo>
                <a:lnTo>
                  <a:pt x="9808535" y="9808534"/>
                </a:lnTo>
                <a:lnTo>
                  <a:pt x="0" y="98085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502910" y="1069627"/>
            <a:ext cx="9353441" cy="6757861"/>
          </a:xfrm>
          <a:custGeom>
            <a:avLst/>
            <a:gdLst/>
            <a:ahLst/>
            <a:cxnLst/>
            <a:rect r="r" b="b" t="t" l="l"/>
            <a:pathLst>
              <a:path h="6757861" w="9353441">
                <a:moveTo>
                  <a:pt x="0" y="0"/>
                </a:moveTo>
                <a:lnTo>
                  <a:pt x="9353442" y="0"/>
                </a:lnTo>
                <a:lnTo>
                  <a:pt x="9353442" y="6757861"/>
                </a:lnTo>
                <a:lnTo>
                  <a:pt x="0" y="67578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354384">
            <a:off x="7762892" y="6716758"/>
            <a:ext cx="5491802" cy="6646029"/>
          </a:xfrm>
          <a:custGeom>
            <a:avLst/>
            <a:gdLst/>
            <a:ahLst/>
            <a:cxnLst/>
            <a:rect r="r" b="b" t="t" l="l"/>
            <a:pathLst>
              <a:path h="6646029" w="5491802">
                <a:moveTo>
                  <a:pt x="0" y="0"/>
                </a:moveTo>
                <a:lnTo>
                  <a:pt x="5491802" y="0"/>
                </a:lnTo>
                <a:lnTo>
                  <a:pt x="5491802" y="6646029"/>
                </a:lnTo>
                <a:lnTo>
                  <a:pt x="0" y="66460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680763" y="-4665035"/>
            <a:ext cx="9808535" cy="9808535"/>
          </a:xfrm>
          <a:custGeom>
            <a:avLst/>
            <a:gdLst/>
            <a:ahLst/>
            <a:cxnLst/>
            <a:rect r="r" b="b" t="t" l="l"/>
            <a:pathLst>
              <a:path h="9808535" w="9808535">
                <a:moveTo>
                  <a:pt x="0" y="0"/>
                </a:moveTo>
                <a:lnTo>
                  <a:pt x="9808534" y="0"/>
                </a:lnTo>
                <a:lnTo>
                  <a:pt x="9808534" y="9808535"/>
                </a:lnTo>
                <a:lnTo>
                  <a:pt x="0" y="9808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03094" y="3034141"/>
            <a:ext cx="6640906" cy="1414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VISION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03094" y="5032557"/>
            <a:ext cx="6938420" cy="274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create a smarter, fairer, and more efficient hiring process by leveraging AI to understand candidates beyond keywords unlocking diverse talent, reducing bias, and enabling organizations to find the best people for every role.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22037" y="4302138"/>
            <a:ext cx="3079216" cy="2825181"/>
          </a:xfrm>
          <a:custGeom>
            <a:avLst/>
            <a:gdLst/>
            <a:ahLst/>
            <a:cxnLst/>
            <a:rect r="r" b="b" t="t" l="l"/>
            <a:pathLst>
              <a:path h="2825181" w="3079216">
                <a:moveTo>
                  <a:pt x="0" y="0"/>
                </a:moveTo>
                <a:lnTo>
                  <a:pt x="3079217" y="0"/>
                </a:lnTo>
                <a:lnTo>
                  <a:pt x="3079217" y="2825181"/>
                </a:lnTo>
                <a:lnTo>
                  <a:pt x="0" y="28251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384142" y="-3875567"/>
            <a:ext cx="9808535" cy="9808535"/>
          </a:xfrm>
          <a:custGeom>
            <a:avLst/>
            <a:gdLst/>
            <a:ahLst/>
            <a:cxnLst/>
            <a:rect r="r" b="b" t="t" l="l"/>
            <a:pathLst>
              <a:path h="9808535" w="9808535">
                <a:moveTo>
                  <a:pt x="0" y="0"/>
                </a:moveTo>
                <a:lnTo>
                  <a:pt x="9808535" y="0"/>
                </a:lnTo>
                <a:lnTo>
                  <a:pt x="9808535" y="9808534"/>
                </a:lnTo>
                <a:lnTo>
                  <a:pt x="0" y="9808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47365" y="4302138"/>
            <a:ext cx="2683922" cy="2825181"/>
          </a:xfrm>
          <a:custGeom>
            <a:avLst/>
            <a:gdLst/>
            <a:ahLst/>
            <a:cxnLst/>
            <a:rect r="r" b="b" t="t" l="l"/>
            <a:pathLst>
              <a:path h="2825181" w="2683922">
                <a:moveTo>
                  <a:pt x="0" y="0"/>
                </a:moveTo>
                <a:lnTo>
                  <a:pt x="2683922" y="0"/>
                </a:lnTo>
                <a:lnTo>
                  <a:pt x="2683922" y="2825181"/>
                </a:lnTo>
                <a:lnTo>
                  <a:pt x="0" y="28251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64453" y="4302138"/>
            <a:ext cx="9808535" cy="9808535"/>
          </a:xfrm>
          <a:custGeom>
            <a:avLst/>
            <a:gdLst/>
            <a:ahLst/>
            <a:cxnLst/>
            <a:rect r="r" b="b" t="t" l="l"/>
            <a:pathLst>
              <a:path h="9808535" w="9808535">
                <a:moveTo>
                  <a:pt x="0" y="0"/>
                </a:moveTo>
                <a:lnTo>
                  <a:pt x="9808535" y="0"/>
                </a:lnTo>
                <a:lnTo>
                  <a:pt x="9808535" y="9808535"/>
                </a:lnTo>
                <a:lnTo>
                  <a:pt x="0" y="9808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93515" y="4302138"/>
            <a:ext cx="3046017" cy="2825181"/>
          </a:xfrm>
          <a:custGeom>
            <a:avLst/>
            <a:gdLst/>
            <a:ahLst/>
            <a:cxnLst/>
            <a:rect r="r" b="b" t="t" l="l"/>
            <a:pathLst>
              <a:path h="2825181" w="3046017">
                <a:moveTo>
                  <a:pt x="0" y="0"/>
                </a:moveTo>
                <a:lnTo>
                  <a:pt x="3046018" y="0"/>
                </a:lnTo>
                <a:lnTo>
                  <a:pt x="3046018" y="2825181"/>
                </a:lnTo>
                <a:lnTo>
                  <a:pt x="0" y="28251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565945"/>
            <a:ext cx="16230600" cy="1410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TOOLS AND TECHNOLOGIES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54260" y="7527879"/>
            <a:ext cx="3070132" cy="1317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Programming languate: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PYTHON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31121" y="7527879"/>
            <a:ext cx="3070132" cy="1755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PyPDF2, python-docx, pytesseract, custom python for txt &amp; html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07982" y="7527879"/>
            <a:ext cx="3070132" cy="1755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spaCy, NLTK &amp; custom Python scripts for text processing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81618" y="4195703"/>
            <a:ext cx="9808535" cy="9808535"/>
          </a:xfrm>
          <a:custGeom>
            <a:avLst/>
            <a:gdLst/>
            <a:ahLst/>
            <a:cxnLst/>
            <a:rect r="r" b="b" t="t" l="l"/>
            <a:pathLst>
              <a:path h="9808535" w="9808535">
                <a:moveTo>
                  <a:pt x="0" y="0"/>
                </a:moveTo>
                <a:lnTo>
                  <a:pt x="9808535" y="0"/>
                </a:lnTo>
                <a:lnTo>
                  <a:pt x="9808535" y="9808535"/>
                </a:lnTo>
                <a:lnTo>
                  <a:pt x="0" y="9808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54260" y="4302138"/>
            <a:ext cx="3270832" cy="2825181"/>
          </a:xfrm>
          <a:custGeom>
            <a:avLst/>
            <a:gdLst/>
            <a:ahLst/>
            <a:cxnLst/>
            <a:rect r="r" b="b" t="t" l="l"/>
            <a:pathLst>
              <a:path h="2825181" w="3270832">
                <a:moveTo>
                  <a:pt x="0" y="0"/>
                </a:moveTo>
                <a:lnTo>
                  <a:pt x="3270832" y="0"/>
                </a:lnTo>
                <a:lnTo>
                  <a:pt x="3270832" y="2825181"/>
                </a:lnTo>
                <a:lnTo>
                  <a:pt x="0" y="28251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10728" y="4195703"/>
            <a:ext cx="3510918" cy="2931616"/>
          </a:xfrm>
          <a:custGeom>
            <a:avLst/>
            <a:gdLst/>
            <a:ahLst/>
            <a:cxnLst/>
            <a:rect r="r" b="b" t="t" l="l"/>
            <a:pathLst>
              <a:path h="2931616" w="3510918">
                <a:moveTo>
                  <a:pt x="0" y="0"/>
                </a:moveTo>
                <a:lnTo>
                  <a:pt x="3510918" y="0"/>
                </a:lnTo>
                <a:lnTo>
                  <a:pt x="3510918" y="2931616"/>
                </a:lnTo>
                <a:lnTo>
                  <a:pt x="0" y="29316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801407" y="-3875567"/>
            <a:ext cx="9808535" cy="9808535"/>
          </a:xfrm>
          <a:custGeom>
            <a:avLst/>
            <a:gdLst/>
            <a:ahLst/>
            <a:cxnLst/>
            <a:rect r="r" b="b" t="t" l="l"/>
            <a:pathLst>
              <a:path h="9808535" w="9808535">
                <a:moveTo>
                  <a:pt x="0" y="0"/>
                </a:moveTo>
                <a:lnTo>
                  <a:pt x="9808535" y="0"/>
                </a:lnTo>
                <a:lnTo>
                  <a:pt x="9808535" y="9808534"/>
                </a:lnTo>
                <a:lnTo>
                  <a:pt x="0" y="98085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54260" y="7527879"/>
            <a:ext cx="3070132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SBERT or Hugging Face Transformers for semantic embedding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31121" y="7527879"/>
            <a:ext cx="3070132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FAISS for semantic similarity search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07982" y="7527879"/>
            <a:ext cx="3070132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scikit-learn for initial candidate ranking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660316" y="4302138"/>
            <a:ext cx="3079216" cy="2825181"/>
          </a:xfrm>
          <a:custGeom>
            <a:avLst/>
            <a:gdLst/>
            <a:ahLst/>
            <a:cxnLst/>
            <a:rect r="r" b="b" t="t" l="l"/>
            <a:pathLst>
              <a:path h="2825181" w="3079216">
                <a:moveTo>
                  <a:pt x="0" y="0"/>
                </a:moveTo>
                <a:lnTo>
                  <a:pt x="3079217" y="0"/>
                </a:lnTo>
                <a:lnTo>
                  <a:pt x="3079217" y="2825181"/>
                </a:lnTo>
                <a:lnTo>
                  <a:pt x="0" y="28251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565945"/>
            <a:ext cx="16230600" cy="1410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TOOLS AND TECHNOLOGIES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64453" y="4302138"/>
            <a:ext cx="3079216" cy="2825181"/>
          </a:xfrm>
          <a:custGeom>
            <a:avLst/>
            <a:gdLst/>
            <a:ahLst/>
            <a:cxnLst/>
            <a:rect r="r" b="b" t="t" l="l"/>
            <a:pathLst>
              <a:path h="2825181" w="3079216">
                <a:moveTo>
                  <a:pt x="0" y="0"/>
                </a:moveTo>
                <a:lnTo>
                  <a:pt x="3079216" y="0"/>
                </a:lnTo>
                <a:lnTo>
                  <a:pt x="3079216" y="2825181"/>
                </a:lnTo>
                <a:lnTo>
                  <a:pt x="0" y="28251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384142" y="-3875567"/>
            <a:ext cx="9808535" cy="9808535"/>
          </a:xfrm>
          <a:custGeom>
            <a:avLst/>
            <a:gdLst/>
            <a:ahLst/>
            <a:cxnLst/>
            <a:rect r="r" b="b" t="t" l="l"/>
            <a:pathLst>
              <a:path h="9808535" w="9808535">
                <a:moveTo>
                  <a:pt x="0" y="0"/>
                </a:moveTo>
                <a:lnTo>
                  <a:pt x="9808535" y="0"/>
                </a:lnTo>
                <a:lnTo>
                  <a:pt x="9808535" y="9808534"/>
                </a:lnTo>
                <a:lnTo>
                  <a:pt x="0" y="9808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64453" y="4302138"/>
            <a:ext cx="9808535" cy="9808535"/>
          </a:xfrm>
          <a:custGeom>
            <a:avLst/>
            <a:gdLst/>
            <a:ahLst/>
            <a:cxnLst/>
            <a:rect r="r" b="b" t="t" l="l"/>
            <a:pathLst>
              <a:path h="9808535" w="9808535">
                <a:moveTo>
                  <a:pt x="0" y="0"/>
                </a:moveTo>
                <a:lnTo>
                  <a:pt x="9808535" y="0"/>
                </a:lnTo>
                <a:lnTo>
                  <a:pt x="9808535" y="9808535"/>
                </a:lnTo>
                <a:lnTo>
                  <a:pt x="0" y="9808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565945"/>
            <a:ext cx="16230600" cy="1410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TOOLS AND TECHNOLOGIES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4260" y="7527879"/>
            <a:ext cx="3070132" cy="1755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SHAP or LIME 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Bias &amp; Interpretability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431121" y="7527879"/>
            <a:ext cx="3070132" cy="879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HTML, CSS and JS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frontend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07982" y="7527879"/>
            <a:ext cx="3070132" cy="1755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 will be greatful for any other recommendation from your side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413870" y="4302138"/>
            <a:ext cx="3046017" cy="2825181"/>
          </a:xfrm>
          <a:custGeom>
            <a:avLst/>
            <a:gdLst/>
            <a:ahLst/>
            <a:cxnLst/>
            <a:rect r="r" b="b" t="t" l="l"/>
            <a:pathLst>
              <a:path h="2825181" w="3046017">
                <a:moveTo>
                  <a:pt x="0" y="0"/>
                </a:moveTo>
                <a:lnTo>
                  <a:pt x="3046017" y="0"/>
                </a:lnTo>
                <a:lnTo>
                  <a:pt x="3046017" y="2825181"/>
                </a:lnTo>
                <a:lnTo>
                  <a:pt x="0" y="28251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508584" y="4302138"/>
            <a:ext cx="3270832" cy="2825181"/>
          </a:xfrm>
          <a:custGeom>
            <a:avLst/>
            <a:gdLst/>
            <a:ahLst/>
            <a:cxnLst/>
            <a:rect r="r" b="b" t="t" l="l"/>
            <a:pathLst>
              <a:path h="2825181" w="3270832">
                <a:moveTo>
                  <a:pt x="0" y="0"/>
                </a:moveTo>
                <a:lnTo>
                  <a:pt x="3270832" y="0"/>
                </a:lnTo>
                <a:lnTo>
                  <a:pt x="3270832" y="2825181"/>
                </a:lnTo>
                <a:lnTo>
                  <a:pt x="0" y="28251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2591" y="3031218"/>
            <a:ext cx="3402056" cy="3402056"/>
          </a:xfrm>
          <a:custGeom>
            <a:avLst/>
            <a:gdLst/>
            <a:ahLst/>
            <a:cxnLst/>
            <a:rect r="r" b="b" t="t" l="l"/>
            <a:pathLst>
              <a:path h="3402056" w="3402056">
                <a:moveTo>
                  <a:pt x="0" y="0"/>
                </a:moveTo>
                <a:lnTo>
                  <a:pt x="3402056" y="0"/>
                </a:lnTo>
                <a:lnTo>
                  <a:pt x="3402056" y="3402057"/>
                </a:lnTo>
                <a:lnTo>
                  <a:pt x="0" y="34020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823547" y="1565945"/>
            <a:ext cx="6640906" cy="1410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ROADMAP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133710">
            <a:off x="16066120" y="5143500"/>
            <a:ext cx="8225491" cy="8229600"/>
          </a:xfrm>
          <a:custGeom>
            <a:avLst/>
            <a:gdLst/>
            <a:ahLst/>
            <a:cxnLst/>
            <a:rect r="r" b="b" t="t" l="l"/>
            <a:pathLst>
              <a:path h="8229600" w="8225491">
                <a:moveTo>
                  <a:pt x="0" y="0"/>
                </a:moveTo>
                <a:lnTo>
                  <a:pt x="8225491" y="0"/>
                </a:lnTo>
                <a:lnTo>
                  <a:pt x="82254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133710">
            <a:off x="-486899" y="-4938338"/>
            <a:ext cx="8225491" cy="8229600"/>
          </a:xfrm>
          <a:custGeom>
            <a:avLst/>
            <a:gdLst/>
            <a:ahLst/>
            <a:cxnLst/>
            <a:rect r="r" b="b" t="t" l="l"/>
            <a:pathLst>
              <a:path h="8229600" w="8225491">
                <a:moveTo>
                  <a:pt x="0" y="0"/>
                </a:moveTo>
                <a:lnTo>
                  <a:pt x="8225491" y="0"/>
                </a:lnTo>
                <a:lnTo>
                  <a:pt x="82254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47439" y="3180894"/>
            <a:ext cx="3402056" cy="3402056"/>
          </a:xfrm>
          <a:custGeom>
            <a:avLst/>
            <a:gdLst/>
            <a:ahLst/>
            <a:cxnLst/>
            <a:rect r="r" b="b" t="t" l="l"/>
            <a:pathLst>
              <a:path h="3402056" w="3402056">
                <a:moveTo>
                  <a:pt x="0" y="0"/>
                </a:moveTo>
                <a:lnTo>
                  <a:pt x="3402056" y="0"/>
                </a:lnTo>
                <a:lnTo>
                  <a:pt x="3402056" y="3402056"/>
                </a:lnTo>
                <a:lnTo>
                  <a:pt x="0" y="34020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54345" y="3180894"/>
            <a:ext cx="3402056" cy="3402056"/>
          </a:xfrm>
          <a:custGeom>
            <a:avLst/>
            <a:gdLst/>
            <a:ahLst/>
            <a:cxnLst/>
            <a:rect r="r" b="b" t="t" l="l"/>
            <a:pathLst>
              <a:path h="3402056" w="3402056">
                <a:moveTo>
                  <a:pt x="0" y="0"/>
                </a:moveTo>
                <a:lnTo>
                  <a:pt x="3402056" y="0"/>
                </a:lnTo>
                <a:lnTo>
                  <a:pt x="3402056" y="3402056"/>
                </a:lnTo>
                <a:lnTo>
                  <a:pt x="0" y="34020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661251" y="3180894"/>
            <a:ext cx="3402056" cy="3402056"/>
          </a:xfrm>
          <a:custGeom>
            <a:avLst/>
            <a:gdLst/>
            <a:ahLst/>
            <a:cxnLst/>
            <a:rect r="r" b="b" t="t" l="l"/>
            <a:pathLst>
              <a:path h="3402056" w="3402056">
                <a:moveTo>
                  <a:pt x="0" y="0"/>
                </a:moveTo>
                <a:lnTo>
                  <a:pt x="3402057" y="0"/>
                </a:lnTo>
                <a:lnTo>
                  <a:pt x="3402057" y="3402056"/>
                </a:lnTo>
                <a:lnTo>
                  <a:pt x="0" y="34020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42591" y="6433275"/>
            <a:ext cx="3402056" cy="3402056"/>
          </a:xfrm>
          <a:custGeom>
            <a:avLst/>
            <a:gdLst/>
            <a:ahLst/>
            <a:cxnLst/>
            <a:rect r="r" b="b" t="t" l="l"/>
            <a:pathLst>
              <a:path h="3402056" w="3402056">
                <a:moveTo>
                  <a:pt x="0" y="0"/>
                </a:moveTo>
                <a:lnTo>
                  <a:pt x="3402056" y="0"/>
                </a:lnTo>
                <a:lnTo>
                  <a:pt x="3402056" y="3402056"/>
                </a:lnTo>
                <a:lnTo>
                  <a:pt x="0" y="34020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448468" y="6582950"/>
            <a:ext cx="3402056" cy="3402056"/>
          </a:xfrm>
          <a:custGeom>
            <a:avLst/>
            <a:gdLst/>
            <a:ahLst/>
            <a:cxnLst/>
            <a:rect r="r" b="b" t="t" l="l"/>
            <a:pathLst>
              <a:path h="3402056" w="3402056">
                <a:moveTo>
                  <a:pt x="0" y="0"/>
                </a:moveTo>
                <a:lnTo>
                  <a:pt x="3402056" y="0"/>
                </a:lnTo>
                <a:lnTo>
                  <a:pt x="3402056" y="3402056"/>
                </a:lnTo>
                <a:lnTo>
                  <a:pt x="0" y="34020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555374" y="6433275"/>
            <a:ext cx="3402056" cy="3402056"/>
          </a:xfrm>
          <a:custGeom>
            <a:avLst/>
            <a:gdLst/>
            <a:ahLst/>
            <a:cxnLst/>
            <a:rect r="r" b="b" t="t" l="l"/>
            <a:pathLst>
              <a:path h="3402056" w="3402056">
                <a:moveTo>
                  <a:pt x="0" y="0"/>
                </a:moveTo>
                <a:lnTo>
                  <a:pt x="3402057" y="0"/>
                </a:lnTo>
                <a:lnTo>
                  <a:pt x="3402057" y="3402056"/>
                </a:lnTo>
                <a:lnTo>
                  <a:pt x="0" y="34020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661251" y="6582950"/>
            <a:ext cx="3402056" cy="3402056"/>
          </a:xfrm>
          <a:custGeom>
            <a:avLst/>
            <a:gdLst/>
            <a:ahLst/>
            <a:cxnLst/>
            <a:rect r="r" b="b" t="t" l="l"/>
            <a:pathLst>
              <a:path h="3402056" w="3402056">
                <a:moveTo>
                  <a:pt x="0" y="0"/>
                </a:moveTo>
                <a:lnTo>
                  <a:pt x="3402057" y="0"/>
                </a:lnTo>
                <a:lnTo>
                  <a:pt x="3402057" y="3402056"/>
                </a:lnTo>
                <a:lnTo>
                  <a:pt x="0" y="34020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539159" y="4259170"/>
            <a:ext cx="946153" cy="94615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A55F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36525"/>
              <a:ext cx="711200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084284" y="4040096"/>
            <a:ext cx="1918669" cy="1317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Resume &amp; Job Desc Ingestion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90161" y="4525705"/>
            <a:ext cx="1918669" cy="441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Doc Parsing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84284" y="7880303"/>
            <a:ext cx="1918669" cy="441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Happy HR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90161" y="7670753"/>
            <a:ext cx="2503720" cy="798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Fairness &amp; Interpretability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97295" y="4408847"/>
            <a:ext cx="2454965" cy="879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Text Preprocessing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98324" y="7661228"/>
            <a:ext cx="1918669" cy="879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Initial Ranking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405231" y="4408847"/>
            <a:ext cx="1918669" cy="879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Semantic Embedding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405231" y="7442153"/>
            <a:ext cx="1918669" cy="1317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Semantic Similarity Search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813681" y="4306629"/>
            <a:ext cx="946153" cy="946153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A55F6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136525"/>
              <a:ext cx="711200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956401" y="4259170"/>
            <a:ext cx="946153" cy="946153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A55F6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136525"/>
              <a:ext cx="711200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10800000">
            <a:off x="12957431" y="7661227"/>
            <a:ext cx="946153" cy="946153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A55F6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136525"/>
              <a:ext cx="711200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-10800000">
            <a:off x="8729873" y="7625666"/>
            <a:ext cx="946153" cy="946153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A55F6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136525"/>
              <a:ext cx="711200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-10800000">
            <a:off x="4464215" y="7661227"/>
            <a:ext cx="946153" cy="946153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A55F6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136525"/>
              <a:ext cx="711200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5400000">
            <a:off x="14889203" y="6109874"/>
            <a:ext cx="946153" cy="946153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A55F6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136525"/>
              <a:ext cx="711200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93373" y="827128"/>
            <a:ext cx="8996085" cy="8996085"/>
          </a:xfrm>
          <a:custGeom>
            <a:avLst/>
            <a:gdLst/>
            <a:ahLst/>
            <a:cxnLst/>
            <a:rect r="r" b="b" t="t" l="l"/>
            <a:pathLst>
              <a:path h="8996085" w="8996085">
                <a:moveTo>
                  <a:pt x="0" y="0"/>
                </a:moveTo>
                <a:lnTo>
                  <a:pt x="8996085" y="0"/>
                </a:lnTo>
                <a:lnTo>
                  <a:pt x="8996085" y="8996085"/>
                </a:lnTo>
                <a:lnTo>
                  <a:pt x="0" y="89960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69513" y="3063813"/>
            <a:ext cx="4148975" cy="4159373"/>
          </a:xfrm>
          <a:custGeom>
            <a:avLst/>
            <a:gdLst/>
            <a:ahLst/>
            <a:cxnLst/>
            <a:rect r="r" b="b" t="t" l="l"/>
            <a:pathLst>
              <a:path h="4159373" w="4148975">
                <a:moveTo>
                  <a:pt x="0" y="0"/>
                </a:moveTo>
                <a:lnTo>
                  <a:pt x="4148974" y="0"/>
                </a:lnTo>
                <a:lnTo>
                  <a:pt x="4148974" y="4159374"/>
                </a:lnTo>
                <a:lnTo>
                  <a:pt x="0" y="41593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994241" y="1993741"/>
            <a:ext cx="6299517" cy="629951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440743" y="941000"/>
            <a:ext cx="3501344" cy="87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8"/>
              </a:lnSpc>
            </a:pPr>
            <a:r>
              <a:rPr lang="en-US" sz="2455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STEP 1</a:t>
            </a:r>
          </a:p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b="true" sz="245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SmartScreen Login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962329" y="1812071"/>
            <a:ext cx="363341" cy="36334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812571" y="4961829"/>
            <a:ext cx="363341" cy="36334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13837" y="4961829"/>
            <a:ext cx="363341" cy="36334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714696" y="4637223"/>
            <a:ext cx="4097874" cy="129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8"/>
              </a:lnSpc>
            </a:pPr>
            <a:r>
              <a:rPr lang="en-US" sz="2455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STEP 4</a:t>
            </a:r>
          </a:p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b="true" sz="245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Review &amp; get Top K applicants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71771" y="4457004"/>
            <a:ext cx="3341255" cy="129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8"/>
              </a:lnSpc>
            </a:pPr>
            <a:r>
              <a:rPr lang="en-US" sz="2455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STEP 2</a:t>
            </a:r>
          </a:p>
          <a:p>
            <a:pPr algn="ctr">
              <a:lnSpc>
                <a:spcPts val="3438"/>
              </a:lnSpc>
              <a:spcBef>
                <a:spcPct val="0"/>
              </a:spcBef>
            </a:pPr>
            <a:r>
              <a:rPr lang="en-US" b="true" sz="245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Entering Job Desc &amp; Upload Resumes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962329" y="8109012"/>
            <a:ext cx="363341" cy="36334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667771" y="8577128"/>
            <a:ext cx="5315800" cy="129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8"/>
              </a:lnSpc>
            </a:pPr>
            <a:r>
              <a:rPr lang="en-US" sz="2455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STEP 3</a:t>
            </a:r>
          </a:p>
          <a:p>
            <a:pPr algn="ctr">
              <a:lnSpc>
                <a:spcPts val="3438"/>
              </a:lnSpc>
            </a:pPr>
            <a:r>
              <a:rPr lang="en-US" sz="2455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AI-Powered Screening &amp; Results</a:t>
            </a:r>
          </a:p>
          <a:p>
            <a:pPr algn="ctr">
              <a:lnSpc>
                <a:spcPts val="3438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2113837" y="1364499"/>
            <a:ext cx="4369580" cy="93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237"/>
              </a:lnSpc>
            </a:pPr>
            <a:r>
              <a:rPr lang="en-US" sz="640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DASHBOARD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-6278125" y="-2868746"/>
            <a:ext cx="9353441" cy="6757861"/>
          </a:xfrm>
          <a:custGeom>
            <a:avLst/>
            <a:gdLst/>
            <a:ahLst/>
            <a:cxnLst/>
            <a:rect r="r" b="b" t="t" l="l"/>
            <a:pathLst>
              <a:path h="6757861" w="9353441">
                <a:moveTo>
                  <a:pt x="0" y="0"/>
                </a:moveTo>
                <a:lnTo>
                  <a:pt x="9353441" y="0"/>
                </a:lnTo>
                <a:lnTo>
                  <a:pt x="9353441" y="6757862"/>
                </a:lnTo>
                <a:lnTo>
                  <a:pt x="0" y="67578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4161211" y="6908069"/>
            <a:ext cx="9353441" cy="6757861"/>
          </a:xfrm>
          <a:custGeom>
            <a:avLst/>
            <a:gdLst/>
            <a:ahLst/>
            <a:cxnLst/>
            <a:rect r="r" b="b" t="t" l="l"/>
            <a:pathLst>
              <a:path h="6757861" w="9353441">
                <a:moveTo>
                  <a:pt x="0" y="0"/>
                </a:moveTo>
                <a:lnTo>
                  <a:pt x="9353441" y="0"/>
                </a:lnTo>
                <a:lnTo>
                  <a:pt x="9353441" y="6757862"/>
                </a:lnTo>
                <a:lnTo>
                  <a:pt x="0" y="67578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16479" y="8325058"/>
            <a:ext cx="4369580" cy="93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237"/>
              </a:lnSpc>
            </a:pPr>
            <a:r>
              <a:rPr lang="en-US" sz="640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SMARTSCREEN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0187" y="781843"/>
            <a:ext cx="8996085" cy="8996085"/>
          </a:xfrm>
          <a:custGeom>
            <a:avLst/>
            <a:gdLst/>
            <a:ahLst/>
            <a:cxnLst/>
            <a:rect r="r" b="b" t="t" l="l"/>
            <a:pathLst>
              <a:path h="8996085" w="8996085">
                <a:moveTo>
                  <a:pt x="0" y="0"/>
                </a:moveTo>
                <a:lnTo>
                  <a:pt x="8996086" y="0"/>
                </a:lnTo>
                <a:lnTo>
                  <a:pt x="8996086" y="8996085"/>
                </a:lnTo>
                <a:lnTo>
                  <a:pt x="0" y="89960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87777" y="4573515"/>
            <a:ext cx="6640906" cy="1410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CONCLUSION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092198" y="8344438"/>
            <a:ext cx="11356719" cy="5141496"/>
          </a:xfrm>
          <a:custGeom>
            <a:avLst/>
            <a:gdLst/>
            <a:ahLst/>
            <a:cxnLst/>
            <a:rect r="r" b="b" t="t" l="l"/>
            <a:pathLst>
              <a:path h="5141496" w="11356719">
                <a:moveTo>
                  <a:pt x="0" y="0"/>
                </a:moveTo>
                <a:lnTo>
                  <a:pt x="11356720" y="0"/>
                </a:lnTo>
                <a:lnTo>
                  <a:pt x="11356720" y="5141496"/>
                </a:lnTo>
                <a:lnTo>
                  <a:pt x="0" y="51414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9023478" y="8344438"/>
            <a:ext cx="11356719" cy="5141496"/>
          </a:xfrm>
          <a:custGeom>
            <a:avLst/>
            <a:gdLst/>
            <a:ahLst/>
            <a:cxnLst/>
            <a:rect r="r" b="b" t="t" l="l"/>
            <a:pathLst>
              <a:path h="5141496" w="11356719">
                <a:moveTo>
                  <a:pt x="11356720" y="0"/>
                </a:moveTo>
                <a:lnTo>
                  <a:pt x="0" y="0"/>
                </a:lnTo>
                <a:lnTo>
                  <a:pt x="0" y="5141496"/>
                </a:lnTo>
                <a:lnTo>
                  <a:pt x="11356720" y="5141496"/>
                </a:lnTo>
                <a:lnTo>
                  <a:pt x="11356720" y="0"/>
                </a:lnTo>
                <a:close/>
              </a:path>
            </a:pathLst>
          </a:custGeom>
          <a:blipFill>
            <a:blip r:embed="rId5">
              <a:alphaModFix amt="7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212719" y="-2570748"/>
            <a:ext cx="11356719" cy="5141496"/>
          </a:xfrm>
          <a:custGeom>
            <a:avLst/>
            <a:gdLst/>
            <a:ahLst/>
            <a:cxnLst/>
            <a:rect r="r" b="b" t="t" l="l"/>
            <a:pathLst>
              <a:path h="5141496" w="11356719">
                <a:moveTo>
                  <a:pt x="0" y="0"/>
                </a:moveTo>
                <a:lnTo>
                  <a:pt x="11356719" y="0"/>
                </a:lnTo>
                <a:lnTo>
                  <a:pt x="11356719" y="5141496"/>
                </a:lnTo>
                <a:lnTo>
                  <a:pt x="0" y="51414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8902957" y="-2570748"/>
            <a:ext cx="11356719" cy="5141496"/>
          </a:xfrm>
          <a:custGeom>
            <a:avLst/>
            <a:gdLst/>
            <a:ahLst/>
            <a:cxnLst/>
            <a:rect r="r" b="b" t="t" l="l"/>
            <a:pathLst>
              <a:path h="5141496" w="11356719">
                <a:moveTo>
                  <a:pt x="11356719" y="0"/>
                </a:moveTo>
                <a:lnTo>
                  <a:pt x="0" y="0"/>
                </a:lnTo>
                <a:lnTo>
                  <a:pt x="0" y="5141496"/>
                </a:lnTo>
                <a:lnTo>
                  <a:pt x="11356719" y="5141496"/>
                </a:lnTo>
                <a:lnTo>
                  <a:pt x="11356719" y="0"/>
                </a:lnTo>
                <a:close/>
              </a:path>
            </a:pathLst>
          </a:custGeom>
          <a:blipFill>
            <a:blip r:embed="rId5">
              <a:alphaModFix amt="7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406273" y="3874459"/>
            <a:ext cx="6938420" cy="274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1"/>
              </a:lnSpc>
            </a:pPr>
            <a:r>
              <a:rPr lang="en-US" sz="25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SmartScreen AI transforms hiring by combining advanced AI and semantic understanding to deliver faster, fairer, and more accurate resume screening helping companies discover the best talent with confidence.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19211" y="239233"/>
            <a:ext cx="9808535" cy="9808535"/>
          </a:xfrm>
          <a:custGeom>
            <a:avLst/>
            <a:gdLst/>
            <a:ahLst/>
            <a:cxnLst/>
            <a:rect r="r" b="b" t="t" l="l"/>
            <a:pathLst>
              <a:path h="9808535" w="9808535">
                <a:moveTo>
                  <a:pt x="0" y="0"/>
                </a:moveTo>
                <a:lnTo>
                  <a:pt x="9808535" y="0"/>
                </a:lnTo>
                <a:lnTo>
                  <a:pt x="9808535" y="9808534"/>
                </a:lnTo>
                <a:lnTo>
                  <a:pt x="0" y="98085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092198" y="2572752"/>
            <a:ext cx="11356719" cy="5141496"/>
          </a:xfrm>
          <a:custGeom>
            <a:avLst/>
            <a:gdLst/>
            <a:ahLst/>
            <a:cxnLst/>
            <a:rect r="r" b="b" t="t" l="l"/>
            <a:pathLst>
              <a:path h="5141496" w="11356719">
                <a:moveTo>
                  <a:pt x="0" y="0"/>
                </a:moveTo>
                <a:lnTo>
                  <a:pt x="11356720" y="0"/>
                </a:lnTo>
                <a:lnTo>
                  <a:pt x="11356720" y="5141496"/>
                </a:lnTo>
                <a:lnTo>
                  <a:pt x="0" y="51414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9023478" y="2572752"/>
            <a:ext cx="11356719" cy="5141496"/>
          </a:xfrm>
          <a:custGeom>
            <a:avLst/>
            <a:gdLst/>
            <a:ahLst/>
            <a:cxnLst/>
            <a:rect r="r" b="b" t="t" l="l"/>
            <a:pathLst>
              <a:path h="5141496" w="11356719">
                <a:moveTo>
                  <a:pt x="11356720" y="0"/>
                </a:moveTo>
                <a:lnTo>
                  <a:pt x="0" y="0"/>
                </a:lnTo>
                <a:lnTo>
                  <a:pt x="0" y="5141496"/>
                </a:lnTo>
                <a:lnTo>
                  <a:pt x="11356720" y="5141496"/>
                </a:lnTo>
                <a:lnTo>
                  <a:pt x="11356720" y="0"/>
                </a:lnTo>
                <a:close/>
              </a:path>
            </a:pathLst>
          </a:custGeom>
          <a:blipFill>
            <a:blip r:embed="rId5">
              <a:alphaModFix amt="3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91895" y="3721630"/>
            <a:ext cx="12463166" cy="2557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05"/>
              </a:lnSpc>
            </a:pPr>
            <a:r>
              <a:rPr lang="en-US" sz="1493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DAGw-2Uw0Is</dc:identifier>
  <dcterms:modified xsi:type="dcterms:W3CDTF">2011-08-01T06:04:30Z</dcterms:modified>
  <cp:revision>1</cp:revision>
  <dc:title>Smartscreen</dc:title>
</cp:coreProperties>
</file>